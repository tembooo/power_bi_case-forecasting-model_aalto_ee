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track: Start from the Executive Dashboard and point to Project Accrual Forecast. Explain that the duplicate issue is in the accrual layer, specifically University Programs BU, Sep-Dec, and projects L9109051 and L9109067. Then show that the Power Query QA query isolates duplicate evidence. Emphasize the governance decision: detecting a technical duplicate is not the same as proving a business duplicate, so the source-aligned forecast was not changed without Finance approval.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8600" y="91440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Accrual Duplicate Exposure &amp; Financial Governance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246888" y="502920"/>
            <a:ext cx="10698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Aalto EE Forecast Case  |  Power BI + Power Query Evidence  |  “Detect, quantify, isolate — do not self-correct Finance data”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228600" y="786384"/>
            <a:ext cx="1175004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1168" y="960120"/>
            <a:ext cx="1965960" cy="45262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78992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 Business signal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15544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Accrual Forecast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1755648"/>
            <a:ext cx="141732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€6.62M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65760" y="2176272"/>
            <a:ext cx="1463040" cy="0"/>
          </a:xfrm>
          <a:prstGeom prst="line">
            <a:avLst/>
          </a:prstGeom>
          <a:noFill/>
          <a:ln w="12700">
            <a:solidFill>
              <a:srgbClr val="AFC7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31720"/>
            <a:ext cx="15544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issue appears: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84048" y="2606040"/>
            <a:ext cx="160020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University Programs BU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Sep–Dec accrual months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Top projects: L9109051 / L9109067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160020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is kept executive; evidence stays in QA / Power Query.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65760" y="4370832"/>
            <a:ext cx="1417320" cy="384048"/>
          </a:xfrm>
          <a:prstGeom prst="rect">
            <a:avLst/>
          </a:prstGeom>
          <a:solidFill>
            <a:srgbClr val="EAF2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462272"/>
            <a:ext cx="1325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DQ_Accrual_ExactDuplicates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2331720" y="960120"/>
            <a:ext cx="16002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04872" y="1033272"/>
            <a:ext cx="292608" cy="292608"/>
          </a:xfrm>
          <a:prstGeom prst="ellipse">
            <a:avLst/>
          </a:prstGeom>
          <a:solidFill>
            <a:srgbClr val="0B63CE"/>
          </a:solidFill>
          <a:ln w="12700">
            <a:solidFill>
              <a:srgbClr val="0B63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04872" y="1046988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761488" y="1024128"/>
            <a:ext cx="1097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query</a:t>
            </a:r>
            <a:endParaRPr lang="en-US" sz="1140" dirty="0"/>
          </a:p>
        </p:txBody>
      </p:sp>
      <p:sp>
        <p:nvSpPr>
          <p:cNvPr id="19" name="Text 17"/>
          <p:cNvSpPr/>
          <p:nvPr/>
        </p:nvSpPr>
        <p:spPr>
          <a:xfrm>
            <a:off x="2441448" y="1417320"/>
            <a:ext cx="141732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 isolates repeated accrual rows by BusinessUnitSource, ProjectID, ForecastYear and ForecastMonthNumber.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078224" y="960120"/>
            <a:ext cx="16002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51376" y="1033272"/>
            <a:ext cx="292608" cy="292608"/>
          </a:xfrm>
          <a:prstGeom prst="ellipse">
            <a:avLst/>
          </a:prstGeom>
          <a:solidFill>
            <a:srgbClr val="00A6A6"/>
          </a:solidFill>
          <a:ln w="12700">
            <a:solidFill>
              <a:srgbClr val="00A6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51376" y="1046988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07992" y="1024128"/>
            <a:ext cx="1097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found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4187952" y="1417320"/>
            <a:ext cx="141732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ProjectIDs show repeated monthly accrual records in Sep–Dec 2026.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824728" y="960120"/>
            <a:ext cx="16002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033272"/>
            <a:ext cx="292608" cy="29260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046988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254496" y="1024128"/>
            <a:ext cx="1097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logic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5934456" y="1417320"/>
            <a:ext cx="141732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duplicate excess rows are quantified: RecordCount − 1. The source forecast is not altered.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7571232" y="960120"/>
            <a:ext cx="160020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44384" y="1033272"/>
            <a:ext cx="292608" cy="29260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44384" y="1046988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8001000" y="1024128"/>
            <a:ext cx="109728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decision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7680960" y="1417320"/>
            <a:ext cx="141732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source-aligned forecast unchanged until Finance confirms whether they are business duplicates.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317736" y="960120"/>
            <a:ext cx="2651760" cy="1133856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390888" y="1033272"/>
            <a:ext cx="292608" cy="29260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90888" y="1046988"/>
            <a:ext cx="292608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747504" y="1024128"/>
            <a:ext cx="21488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Interview message</a:t>
            </a:r>
            <a:endParaRPr lang="en-US" sz="1140" dirty="0"/>
          </a:p>
        </p:txBody>
      </p:sp>
      <p:sp>
        <p:nvSpPr>
          <p:cNvPr id="39" name="Text 37"/>
          <p:cNvSpPr/>
          <p:nvPr/>
        </p:nvSpPr>
        <p:spPr>
          <a:xfrm>
            <a:off x="9427464" y="1417320"/>
            <a:ext cx="2468880" cy="63093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“Technical duplicate” is not automatically a “business duplicate.” I quantified risk, not silently corrected Finance data.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2331720" y="22860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505456" y="2404872"/>
            <a:ext cx="31089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Query evidence summary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2514600" y="2770632"/>
            <a:ext cx="6217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ProjectID</a:t>
            </a:r>
            <a:endParaRPr lang="en-US" sz="680" dirty="0"/>
          </a:p>
        </p:txBody>
      </p:sp>
      <p:sp>
        <p:nvSpPr>
          <p:cNvPr id="43" name="Text 41"/>
          <p:cNvSpPr/>
          <p:nvPr/>
        </p:nvSpPr>
        <p:spPr>
          <a:xfrm>
            <a:off x="3136392" y="277063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Months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3703320" y="2770632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68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Rows/mo</a:t>
            </a:r>
            <a:endParaRPr lang="en-US" sz="680" dirty="0"/>
          </a:p>
        </p:txBody>
      </p:sp>
      <p:sp>
        <p:nvSpPr>
          <p:cNvPr id="45" name="Text 43"/>
          <p:cNvSpPr/>
          <p:nvPr/>
        </p:nvSpPr>
        <p:spPr>
          <a:xfrm>
            <a:off x="4270248" y="2770632"/>
            <a:ext cx="9418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€</a:t>
            </a:r>
            <a:endParaRPr lang="en-US" sz="680" dirty="0"/>
          </a:p>
        </p:txBody>
      </p:sp>
      <p:sp>
        <p:nvSpPr>
          <p:cNvPr id="46" name="Text 44"/>
          <p:cNvSpPr/>
          <p:nvPr/>
        </p:nvSpPr>
        <p:spPr>
          <a:xfrm>
            <a:off x="5212080" y="2770632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68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Excess</a:t>
            </a:r>
            <a:endParaRPr lang="en-US" sz="680" dirty="0"/>
          </a:p>
        </p:txBody>
      </p:sp>
      <p:sp>
        <p:nvSpPr>
          <p:cNvPr id="47" name="Shape 45"/>
          <p:cNvSpPr/>
          <p:nvPr/>
        </p:nvSpPr>
        <p:spPr>
          <a:xfrm>
            <a:off x="2514600" y="2971800"/>
            <a:ext cx="3227832" cy="0"/>
          </a:xfrm>
          <a:prstGeom prst="line">
            <a:avLst/>
          </a:prstGeom>
          <a:noFill/>
          <a:ln w="12700">
            <a:solidFill>
              <a:srgbClr val="AFC7E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487168" y="3044952"/>
            <a:ext cx="3273552" cy="219456"/>
          </a:xfrm>
          <a:prstGeom prst="rect">
            <a:avLst/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514600" y="3054096"/>
            <a:ext cx="6217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L9109051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136392" y="3054096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Sep–Dec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3703320" y="3054096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270248" y="3054096"/>
            <a:ext cx="9418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13,529.41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212080" y="3054096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rows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2514600" y="3310128"/>
            <a:ext cx="6217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L9109067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3136392" y="3310128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Sep–Dec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3703320" y="3310128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4270248" y="3310128"/>
            <a:ext cx="9418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16,770.83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5212080" y="3310128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0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rows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487168" y="3557016"/>
            <a:ext cx="3273552" cy="219456"/>
          </a:xfrm>
          <a:prstGeom prst="rect">
            <a:avLst/>
          </a:prstGeom>
          <a:solidFill>
            <a:srgbClr val="F3F7FE"/>
          </a:solidFill>
          <a:ln w="12700">
            <a:solidFill>
              <a:srgbClr val="F3F7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2514600" y="3566160"/>
            <a:ext cx="62179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3136392" y="3566160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3703320" y="3566160"/>
            <a:ext cx="566928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4270248" y="3566160"/>
            <a:ext cx="94183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endParaRPr lang="en-US" sz="700" dirty="0"/>
          </a:p>
        </p:txBody>
      </p:sp>
      <p:sp>
        <p:nvSpPr>
          <p:cNvPr id="64" name="Text 62"/>
          <p:cNvSpPr/>
          <p:nvPr/>
        </p:nvSpPr>
        <p:spPr>
          <a:xfrm>
            <a:off x="5212080" y="3566160"/>
            <a:ext cx="530352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rows</a:t>
            </a:r>
            <a:endParaRPr lang="en-US" sz="700" dirty="0"/>
          </a:p>
        </p:txBody>
      </p:sp>
      <p:sp>
        <p:nvSpPr>
          <p:cNvPr id="65" name="Text 63"/>
          <p:cNvSpPr/>
          <p:nvPr/>
        </p:nvSpPr>
        <p:spPr>
          <a:xfrm>
            <a:off x="2514600" y="3913632"/>
            <a:ext cx="29718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query: DQ_Accrual_ExactDuplicates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6144768" y="2286000"/>
            <a:ext cx="28346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327648" y="2404872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Potential overstatement calculation</a:t>
            </a:r>
            <a:endParaRPr lang="en-US" sz="1200" dirty="0"/>
          </a:p>
        </p:txBody>
      </p:sp>
      <p:sp>
        <p:nvSpPr>
          <p:cNvPr id="68" name="Text 66"/>
          <p:cNvSpPr/>
          <p:nvPr/>
        </p:nvSpPr>
        <p:spPr>
          <a:xfrm>
            <a:off x="6355080" y="2724912"/>
            <a:ext cx="7315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L9109051</a:t>
            </a:r>
            <a:endParaRPr lang="en-US" sz="840" dirty="0"/>
          </a:p>
        </p:txBody>
      </p:sp>
      <p:sp>
        <p:nvSpPr>
          <p:cNvPr id="69" name="Text 67"/>
          <p:cNvSpPr/>
          <p:nvPr/>
        </p:nvSpPr>
        <p:spPr>
          <a:xfrm>
            <a:off x="7114032" y="2724912"/>
            <a:ext cx="16642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months × (3−1) × €13,529.41179 = €108,235.29</a:t>
            </a:r>
            <a:endParaRPr lang="en-US" sz="760" dirty="0"/>
          </a:p>
        </p:txBody>
      </p:sp>
      <p:sp>
        <p:nvSpPr>
          <p:cNvPr id="70" name="Text 68"/>
          <p:cNvSpPr/>
          <p:nvPr/>
        </p:nvSpPr>
        <p:spPr>
          <a:xfrm>
            <a:off x="6355080" y="3127248"/>
            <a:ext cx="7315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L9109067</a:t>
            </a:r>
            <a:endParaRPr lang="en-US" sz="840" dirty="0"/>
          </a:p>
        </p:txBody>
      </p:sp>
      <p:sp>
        <p:nvSpPr>
          <p:cNvPr id="71" name="Text 69"/>
          <p:cNvSpPr/>
          <p:nvPr/>
        </p:nvSpPr>
        <p:spPr>
          <a:xfrm>
            <a:off x="7114032" y="3127248"/>
            <a:ext cx="1664208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76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months × (2−1) × €16,770.83330 = €67,083.33</a:t>
            </a:r>
            <a:endParaRPr lang="en-US" sz="760" dirty="0"/>
          </a:p>
        </p:txBody>
      </p:sp>
      <p:sp>
        <p:nvSpPr>
          <p:cNvPr id="72" name="Shape 70"/>
          <p:cNvSpPr/>
          <p:nvPr/>
        </p:nvSpPr>
        <p:spPr>
          <a:xfrm>
            <a:off x="6355080" y="3547872"/>
            <a:ext cx="2395728" cy="0"/>
          </a:xfrm>
          <a:prstGeom prst="line">
            <a:avLst/>
          </a:prstGeom>
          <a:noFill/>
          <a:ln w="12700">
            <a:solidFill>
              <a:srgbClr val="AFC7E8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355080" y="3675888"/>
            <a:ext cx="118872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Exposure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662672" y="3602736"/>
            <a:ext cx="109728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€175,318.63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9189720" y="2286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9354312" y="2404872"/>
            <a:ext cx="246888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Financial impact if Finance confirms</a:t>
            </a:r>
            <a:endParaRPr lang="en-US" sz="1200" dirty="0"/>
          </a:p>
        </p:txBody>
      </p:sp>
      <p:sp>
        <p:nvSpPr>
          <p:cNvPr id="77" name="Text 75"/>
          <p:cNvSpPr/>
          <p:nvPr/>
        </p:nvSpPr>
        <p:spPr>
          <a:xfrm>
            <a:off x="9372600" y="2761488"/>
            <a:ext cx="1325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Project Accrual</a:t>
            </a:r>
            <a:endParaRPr lang="en-US" sz="850" dirty="0"/>
          </a:p>
        </p:txBody>
      </p:sp>
      <p:sp>
        <p:nvSpPr>
          <p:cNvPr id="78" name="Text 76"/>
          <p:cNvSpPr/>
          <p:nvPr/>
        </p:nvSpPr>
        <p:spPr>
          <a:xfrm>
            <a:off x="10698480" y="2761488"/>
            <a:ext cx="96012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€6,616,025.78</a:t>
            </a:r>
            <a:endParaRPr lang="en-US" sz="850" dirty="0"/>
          </a:p>
        </p:txBody>
      </p:sp>
      <p:sp>
        <p:nvSpPr>
          <p:cNvPr id="79" name="Text 77"/>
          <p:cNvSpPr/>
          <p:nvPr/>
        </p:nvSpPr>
        <p:spPr>
          <a:xfrm>
            <a:off x="9372600" y="3054096"/>
            <a:ext cx="11430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 exposure</a:t>
            </a:r>
            <a:endParaRPr lang="en-US" sz="850" dirty="0"/>
          </a:p>
        </p:txBody>
      </p:sp>
      <p:sp>
        <p:nvSpPr>
          <p:cNvPr id="80" name="Text 78"/>
          <p:cNvSpPr/>
          <p:nvPr/>
        </p:nvSpPr>
        <p:spPr>
          <a:xfrm>
            <a:off x="10625328" y="3054096"/>
            <a:ext cx="1033272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− €175,318.63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9372600" y="3364992"/>
            <a:ext cx="2286000" cy="0"/>
          </a:xfrm>
          <a:prstGeom prst="line">
            <a:avLst/>
          </a:prstGeom>
          <a:noFill/>
          <a:ln w="12700">
            <a:solidFill>
              <a:srgbClr val="AFC7E8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9372600" y="3529584"/>
            <a:ext cx="109728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Corrected accrual</a:t>
            </a:r>
            <a:endParaRPr lang="en-US" sz="870" dirty="0"/>
          </a:p>
        </p:txBody>
      </p:sp>
      <p:sp>
        <p:nvSpPr>
          <p:cNvPr id="83" name="Text 81"/>
          <p:cNvSpPr/>
          <p:nvPr/>
        </p:nvSpPr>
        <p:spPr>
          <a:xfrm>
            <a:off x="10579608" y="3529584"/>
            <a:ext cx="1078992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71D4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€6,440,707.15</a:t>
            </a:r>
            <a:endParaRPr lang="en-US" sz="870" dirty="0"/>
          </a:p>
        </p:txBody>
      </p:sp>
      <p:sp>
        <p:nvSpPr>
          <p:cNvPr id="84" name="Shape 82"/>
          <p:cNvSpPr/>
          <p:nvPr/>
        </p:nvSpPr>
        <p:spPr>
          <a:xfrm>
            <a:off x="9400032" y="3858768"/>
            <a:ext cx="2286000" cy="274320"/>
          </a:xfrm>
          <a:prstGeom prst="roundRect">
            <a:avLst>
              <a:gd name="adj" fmla="val 2000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9464040" y="3904488"/>
            <a:ext cx="214884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Exposure ≈ 2.65% of accrual forecast</a:t>
            </a:r>
            <a:endParaRPr lang="en-US" sz="820" dirty="0"/>
          </a:p>
        </p:txBody>
      </p:sp>
      <p:sp>
        <p:nvSpPr>
          <p:cNvPr id="86" name="Shape 84"/>
          <p:cNvSpPr/>
          <p:nvPr/>
        </p:nvSpPr>
        <p:spPr>
          <a:xfrm>
            <a:off x="201168" y="5623560"/>
            <a:ext cx="3246120" cy="640080"/>
          </a:xfrm>
          <a:prstGeom prst="roundRect">
            <a:avLst>
              <a:gd name="adj" fmla="val 11429"/>
            </a:avLst>
          </a:prstGeom>
          <a:solidFill>
            <a:srgbClr val="EAF2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84048" y="5715000"/>
            <a:ext cx="8686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show first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1261872" y="5678424"/>
            <a:ext cx="19659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Dashboard → Project Accrual Forecast → University Programs BU → Sep–Dec / L9109051</a:t>
            </a:r>
            <a:endParaRPr lang="en-US" sz="820" dirty="0"/>
          </a:p>
        </p:txBody>
      </p:sp>
      <p:sp>
        <p:nvSpPr>
          <p:cNvPr id="89" name="Shape 87"/>
          <p:cNvSpPr/>
          <p:nvPr/>
        </p:nvSpPr>
        <p:spPr>
          <a:xfrm>
            <a:off x="3630168" y="5623560"/>
            <a:ext cx="4160520" cy="640080"/>
          </a:xfrm>
          <a:prstGeom prst="roundRect">
            <a:avLst>
              <a:gd name="adj" fmla="val 11429"/>
            </a:avLst>
          </a:prstGeom>
          <a:solidFill>
            <a:srgbClr val="EFF6FF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3813048" y="5715000"/>
            <a:ext cx="685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63C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 say</a:t>
            </a:r>
            <a:endParaRPr lang="en-US" sz="900" dirty="0"/>
          </a:p>
        </p:txBody>
      </p:sp>
      <p:sp>
        <p:nvSpPr>
          <p:cNvPr id="91" name="Text 89"/>
          <p:cNvSpPr/>
          <p:nvPr/>
        </p:nvSpPr>
        <p:spPr>
          <a:xfrm>
            <a:off x="4517136" y="5650992"/>
            <a:ext cx="306324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“The dashboard shows the business impact; Power Query keeps the data-quality evidence behind it.”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7973568" y="5623560"/>
            <a:ext cx="4005072" cy="640080"/>
          </a:xfrm>
          <a:prstGeom prst="roundRect">
            <a:avLst>
              <a:gd name="adj" fmla="val 11429"/>
            </a:avLst>
          </a:prstGeom>
          <a:solidFill>
            <a:srgbClr val="ECFDF5"/>
          </a:solidFill>
          <a:ln w="12700">
            <a:solidFill>
              <a:srgbClr val="AFC7E8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156448" y="5715000"/>
            <a:ext cx="5943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796528" y="5669280"/>
            <a:ext cx="288036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0B1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remove €175.32K until Finance confirms business meaning.</a:t>
            </a:r>
            <a:endParaRPr lang="en-US" sz="820" dirty="0"/>
          </a:p>
        </p:txBody>
      </p:sp>
      <p:sp>
        <p:nvSpPr>
          <p:cNvPr id="95" name="Shape 93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071D49"/>
          </a:solidFill>
          <a:ln w="12700">
            <a:solidFill>
              <a:srgbClr val="071D49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246120" y="6519672"/>
            <a:ext cx="448056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data-quality detection to finance-controlled forecasting</a:t>
            </a:r>
            <a:endParaRPr lang="en-US" sz="1200" dirty="0"/>
          </a:p>
        </p:txBody>
      </p:sp>
      <p:sp>
        <p:nvSpPr>
          <p:cNvPr id="97" name="Text 95"/>
          <p:cNvSpPr/>
          <p:nvPr/>
        </p:nvSpPr>
        <p:spPr>
          <a:xfrm>
            <a:off x="8138160" y="6537960"/>
            <a:ext cx="3063240" cy="14630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r" indent="0" marL="0">
              <a:buNone/>
            </a:pPr>
            <a:r>
              <a:rPr lang="en-US" sz="860" dirty="0">
                <a:solidFill>
                  <a:srgbClr val="D6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Repeatable  |  Validated  |  Governed  |  Business-focused</a:t>
            </a:r>
            <a:endParaRPr lang="en-US" sz="860" dirty="0"/>
          </a:p>
        </p:txBody>
      </p:sp>
      <p:sp>
        <p:nvSpPr>
          <p:cNvPr id="98" name="Text 96"/>
          <p:cNvSpPr/>
          <p:nvPr/>
        </p:nvSpPr>
        <p:spPr>
          <a:xfrm>
            <a:off x="228600" y="6473952"/>
            <a:ext cx="384048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</a:t>
            </a:r>
            <a:endParaRPr lang="en-US" sz="1700" dirty="0"/>
          </a:p>
        </p:txBody>
      </p:sp>
      <p:sp>
        <p:nvSpPr>
          <p:cNvPr id="99" name="Shape 97"/>
          <p:cNvSpPr/>
          <p:nvPr/>
        </p:nvSpPr>
        <p:spPr>
          <a:xfrm>
            <a:off x="621792" y="6656832"/>
            <a:ext cx="20116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AGZIORG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Accrual Duplicate Exposure &amp; Financial Governance</dc:title>
  <dc:subject>Aalto EE Forecast Case - Accrual Duplicate Exposure</dc:subject>
  <dc:creator>Arman Golbidi</dc:creator>
  <cp:lastModifiedBy>Arman Golbidi</cp:lastModifiedBy>
  <cp:revision>1</cp:revision>
  <dcterms:created xsi:type="dcterms:W3CDTF">2026-09-16T14:48:26Z</dcterms:created>
  <dcterms:modified xsi:type="dcterms:W3CDTF">2026-09-16T14:48:26Z</dcterms:modified>
</cp:coreProperties>
</file>